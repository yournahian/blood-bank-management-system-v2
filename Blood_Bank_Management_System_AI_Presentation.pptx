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80160"/>
            <a:ext cx="137160" cy="329184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371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BANK MANAGEMENT SYSTEM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178308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 Blood Supply Chain with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AI &amp; Outbreak Demand Forecasting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35661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Intelligent HealthTech Web Platform Integrating Real-Time Inventory Lifecycle, Epidemiological Outbreak Forecasting, Haversine Spatial Matching &amp; Groq Llama 3.3 Agent Orchestration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097280" y="4754880"/>
            <a:ext cx="987552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4983480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Innovations: 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LLM Agent (Live DB Mutation)  •  Dengue &amp; Eid Surge Forecasting  •  Haversine Proximity &amp; Google Maps Routing  •  FEFO Shelf-Life Auditing  •  Zero Wastage Protocol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Healthcare Domain Challenges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Bank Management System (BBMS) | AI &amp; Demand Forecasting Deck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0584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3383280" cy="47548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25880"/>
            <a:ext cx="3383280" cy="91440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459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Lifeline in Healthcare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423160"/>
            <a:ext cx="28346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transfusion is an irreplaceable emergency medical requirement for trauma victims, obstetric hemorrhage, surgeries, and chronic thalassemia patients. No synthetic substitute exists for human whole blood and platelets.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1325880"/>
            <a:ext cx="3383280" cy="47548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325880"/>
            <a:ext cx="338328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6459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Perishable Biological Inventory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2423160"/>
            <a:ext cx="28346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products possess strict, immutable shelf lives: Whole Blood lasts only 35 to 42 days, while Platelets expire within 5 days under continuous agitation. Real-time lifecycle tracking is mandatory to avoid fatal stockouts and expiration wastage.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1325880"/>
            <a:ext cx="3383280" cy="47548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1325880"/>
            <a:ext cx="3383280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16459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Transformation Imperative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21040" y="2423160"/>
            <a:ext cx="28346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blood banks rely on isolated paper logs or static spreadsheets. BBMS introduces a modern, connected web platform that bridges donors, hospitals, and central blood banks through automated workflows and predictive analytics.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Statement: Critical Gaps in Existing Systems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Bank Management System (BBMS) | AI &amp; Demand Forecasting Deck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0584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51206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783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Unpredictable Demand Surges &amp; Sudden Stockouts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4572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Monsoon Dengue epidemics and national holiday travel cause sudden, catastrophic blood demand spikes (up to 250% for platelets) that deplete reserves without advance warning.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325880"/>
            <a:ext cx="51206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1783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Biological Wastage Due to Expiration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0" y="2240280"/>
            <a:ext cx="4572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automated First-Expired, First-Out (FEFO) auditing, valuable blood units expire on storage shelves, causing tragic preventable loss while neighboring hospitals face deficits.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51206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4206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Slow, Disconnected Emergency Donor Matching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05840" y="4663440"/>
            <a:ext cx="4572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eligible, compatible donors during acute emergencies is hindered by lack of geospatial proximity intelligence, resulting in lost critical hours during patient resuscitation.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749040"/>
            <a:ext cx="51206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4206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Cognitive Load on Emergency Staff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0" y="4663440"/>
            <a:ext cx="4572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staff and lab technicians under extreme pressure struggle with complex multi-click database forms, leading to data entry errors and operational bottlenecks.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 &amp; Strategic Value Propositions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Bank Management System (BBMS) | AI &amp; Demand Forecasting Deck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0584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106984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527048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6184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1472184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LLM Agent Integration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180136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 medical staff to converse naturally with an LLM that autonomously checks stock, searches donors, generates Google Maps GPS links, and executes database mutations in real time.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532888"/>
            <a:ext cx="106984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734056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CC0033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82549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28800" y="2679192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Epidemiological Demand Forecasting Engine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28800" y="3008376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and predict blood consumption under outbreak scenarios (Dengue fever) and holiday mobility spikes, calculating exact depletion days and automated target collection alerts.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739896"/>
            <a:ext cx="106984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3941064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03250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28800" y="388620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Geospatial Nearest-Donor Matching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828800" y="4215384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the Haversine distance algorithm and direct Google Maps routing to locate eligible donors closest to the patient in emergency situations within seconds.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946904"/>
            <a:ext cx="106984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514807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523951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828800" y="509320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Real-Time Stock Lifecycle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828800" y="542239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an end-to-end stock dashboard with expiration heatmaps, digital donor ID card generation, and audit logging to ensure 100% compliance and zero preventable wastage.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DIAGRAM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Context Diagram: Inputs, Processing &amp; Outputs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Bank Management System (BBMS) | AI &amp; Demand Forecasting Deck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0584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3108960" cy="4846320"/>
          </a:xfrm>
          <a:prstGeom prst="roundRect">
            <a:avLst>
              <a:gd name="adj" fmla="val 3529"/>
            </a:avLst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STREAMS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187452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842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Donor Profiles (Name, BG, GPS, Phone)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14400" y="2715768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82549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Hospital Requests (BG, Units, Priority)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4400" y="3557016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66674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Natural Language Prompts (Voice/Text)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14400" y="4398264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5079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Epidemic Toggles (Dengue / Eid Travel)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4400" y="5239512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349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Physical Stock Updates &amp; Expiry Dates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89120" y="1325880"/>
            <a:ext cx="3383280" cy="4846320"/>
          </a:xfrm>
          <a:prstGeom prst="roundRect">
            <a:avLst>
              <a:gd name="adj" fmla="val 3243"/>
            </a:avLst>
          </a:prstGeom>
          <a:solidFill>
            <a:srgbClr val="F5F3FF"/>
          </a:solidFill>
          <a:ln w="19050">
            <a:solidFill>
              <a:srgbClr val="C4B5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1463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BBMS CORE ENGINE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1874520"/>
            <a:ext cx="3017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98424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Llama 3.3 70B AI Agent Tool Caller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2715768"/>
            <a:ext cx="3017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82549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Epidemiological Multi-factor Forecaster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0" y="3557016"/>
            <a:ext cx="3017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66674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Haversine Spatial Proximity Calculator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4398264"/>
            <a:ext cx="3017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450799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FEFO Automated Expiry Auditor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0" y="5239512"/>
            <a:ext cx="3017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53492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PostgreSQL Transaction Layer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931920" y="3566160"/>
            <a:ext cx="365760" cy="228600"/>
          </a:xfrm>
          <a:prstGeom prst="rightArrow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0" y="1325880"/>
            <a:ext cx="3108960" cy="4846320"/>
          </a:xfrm>
          <a:prstGeom prst="roundRect">
            <a:avLst>
              <a:gd name="adj" fmla="val 3529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0" y="1463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OUTPUTS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503920" y="187452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95360" y="19842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Real-Time Central Stock Matrix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503920" y="2715768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95360" y="282549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Actionable Chat Cards &amp; Maps Buttons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503920" y="3557016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0" y="366674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7-Day Outbreak Deficit Alerts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503920" y="4398264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95360" y="45079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Sorted Nearest Donor Emergency Routing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503920" y="5239512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95360" y="5349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Verified Digital Donor ID Cards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863840" y="3566160"/>
            <a:ext cx="365760" cy="228600"/>
          </a:xfrm>
          <a:prstGeom prst="rightArrow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DIAGRAM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Architecture: 4-Tier Layered Technical Diagram (Horizontal Flow)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Bank Management System (BBMS) | AI &amp; Demand Forecasting Deck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0584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2423160" cy="4846320"/>
          </a:xfrm>
          <a:prstGeom prst="roundRect">
            <a:avLst>
              <a:gd name="adj" fmla="val 4528"/>
            </a:avLst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508760"/>
            <a:ext cx="214884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57276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0574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&amp; Client UI Layer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0120" y="2880360"/>
            <a:ext cx="196596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063240"/>
            <a:ext cx="2057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Next.js 16 (App Router)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React 19 Server/Client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ChatGPT Help Desk UI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Leaflet &amp; OpenStreetMap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3566160"/>
            <a:ext cx="182880" cy="201168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325880"/>
            <a:ext cx="2423160" cy="4846320"/>
          </a:xfrm>
          <a:prstGeom prst="roundRect">
            <a:avLst>
              <a:gd name="adj" fmla="val 4528"/>
            </a:avLst>
          </a:prstGeom>
          <a:solidFill>
            <a:srgbClr val="F5F3FF"/>
          </a:solidFill>
          <a:ln w="19050">
            <a:solidFill>
              <a:srgbClr val="C4B5F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1508760"/>
            <a:ext cx="2148840" cy="411480"/>
          </a:xfrm>
          <a:prstGeom prst="roundRect">
            <a:avLst>
              <a:gd name="adj" fmla="val 17778"/>
            </a:avLst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3566160" y="157276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20574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&amp; Intelligence Layer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0" y="2880360"/>
            <a:ext cx="196596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3063240"/>
            <a:ext cx="2057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Groq LPU Hardware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Meta Llama 3.3 70B Versatile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Vercel AI SDK Core Stream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Outbreak Demand Forecaster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97880" y="3566160"/>
            <a:ext cx="182880" cy="201168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1325880"/>
            <a:ext cx="2423160" cy="4846320"/>
          </a:xfrm>
          <a:prstGeom prst="roundRect">
            <a:avLst>
              <a:gd name="adj" fmla="val 4528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508760"/>
            <a:ext cx="2148840" cy="411480"/>
          </a:xfrm>
          <a:prstGeom prst="roundRect">
            <a:avLst>
              <a:gd name="adj" fmla="val 17778"/>
            </a:avLst>
          </a:prstGeom>
          <a:solidFill>
            <a:srgbClr val="CC0033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157276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20574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 &amp; API Layer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2880360"/>
            <a:ext cx="1965960" cy="0"/>
          </a:xfrm>
          <a:prstGeom prst="line">
            <a:avLst/>
          </a:prstGeom>
          <a:noFill/>
          <a:ln w="12700">
            <a:solidFill>
              <a:srgbClr val="FCA5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063240"/>
            <a:ext cx="2057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Next.js Server Actions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REST /api/chat Handlers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Haversine Distance Engine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FEFO Expiration Validator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595360" y="3566160"/>
            <a:ext cx="182880" cy="201168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23960" y="1325880"/>
            <a:ext cx="2423160" cy="4846320"/>
          </a:xfrm>
          <a:prstGeom prst="roundRect">
            <a:avLst>
              <a:gd name="adj" fmla="val 4528"/>
            </a:avLst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1120" y="1508760"/>
            <a:ext cx="2148840" cy="411480"/>
          </a:xfrm>
          <a:prstGeom prst="roundRect">
            <a:avLst>
              <a:gd name="adj" fmla="val 17778"/>
            </a:avLst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8961120" y="157276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961120" y="20574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Persistent Storage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052560" y="2880360"/>
            <a:ext cx="1965960" cy="0"/>
          </a:xfrm>
          <a:prstGeom prst="line">
            <a:avLst/>
          </a:prstGeom>
          <a:noFill/>
          <a:ln w="12700">
            <a:solidFill>
              <a:srgbClr val="86EFA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06840" y="3063240"/>
            <a:ext cx="2057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Supabase Cloud PostgreSQL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Relational Schema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Persistent Chat Sessions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Client LocalStorage Cache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DIAGRAM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Demand Forecasting &amp; Outbreak Simulation Flowchart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Bank Management System (BBMS) | AI &amp; Demand Forecasting Deck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0584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2926080" cy="82296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17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Select Blood Group (e.g. O+)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Rate: B_bg = 5 units/day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49040" y="1645920"/>
            <a:ext cx="365760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132588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417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Dengue Epidemic Surge?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Active: Demand = Base x 2.5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98080" y="1645920"/>
            <a:ext cx="365760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1325880"/>
            <a:ext cx="3474720" cy="822960"/>
          </a:xfrm>
          <a:prstGeom prst="roundRect">
            <a:avLst>
              <a:gd name="adj" fmla="val 8889"/>
            </a:avLst>
          </a:prstGeom>
          <a:solidFill>
            <a:srgbClr val="FFFBEB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14173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Eid / Holiday Mobility Surge?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Active: Demand = Demand x 1.5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42316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6060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MATHEMATICAL ENGINE: Fetch Live Inventory Units (S) from PostgreSQL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Depletion Timeframe: T_days = ⌊ S / D_t ⌋      •      7-Day Target Deficit = max(0, 7·D_t - S)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0" y="3520440"/>
            <a:ext cx="274320" cy="228600"/>
          </a:xfrm>
          <a:prstGeom prst="down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88620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FEF2F2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069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CRITICAL (0 Units Left)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68680" y="45720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Red Alert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Emergency SMS Broadcast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0" y="388620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FFFBEB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4069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🟠 URGENT (&lt; 3 Days Supply)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11880" y="45720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Depletion Risk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 Elective Surgeries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388620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4069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WARNING (&lt; 7 Days Supply)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55080" y="45720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Deficit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Mobile Blood Drive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61120" y="388620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98280" y="4069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HEALTHY (≥ 7 Days Supply)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098280" y="45720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Buffer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FEFO Rotation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DIAGRAM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AI Agent Sequence &amp; Execution Workflow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Bank Management System (BBMS) | AI &amp; Demand Forecasting Deck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0584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2011680" cy="46634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50876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5727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User Request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68680" y="2057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Staff / Admin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2514600"/>
            <a:ext cx="1737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"Location of id 5" or "Add a donor" or "Check expiry"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88920" y="3474720"/>
            <a:ext cx="109728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1371600"/>
            <a:ext cx="2011680" cy="4663440"/>
          </a:xfrm>
          <a:prstGeom prst="roundRect">
            <a:avLst>
              <a:gd name="adj" fmla="val 4545"/>
            </a:avLst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63240" y="150876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3063240" y="15727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Help Desk UI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063240" y="2057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App / React 19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63240" y="2514600"/>
            <a:ext cx="1737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input, checks Shift+Enter newlines, streams via /api/chat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83480" y="3474720"/>
            <a:ext cx="109728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0" y="1371600"/>
            <a:ext cx="2011680" cy="4663440"/>
          </a:xfrm>
          <a:prstGeom prst="roundRect">
            <a:avLst>
              <a:gd name="adj" fmla="val 4545"/>
            </a:avLst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57800" y="150876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5257800" y="15727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Groq LLM Inference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257800" y="2057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3.3 70B Engine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57800" y="2514600"/>
            <a:ext cx="1737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Understands intent, determines tool call: get_donor_location_link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178040" y="3474720"/>
            <a:ext cx="109728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0" y="1371600"/>
            <a:ext cx="2011680" cy="4663440"/>
          </a:xfrm>
          <a:prstGeom prst="roundRect">
            <a:avLst>
              <a:gd name="adj" fmla="val 4545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52360" y="150876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7452360" y="15727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Database Execution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452360" y="2057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PostgreSQL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52360" y="2514600"/>
            <a:ext cx="1737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 query/mutation, retrieves coordinates &amp; full donor record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372600" y="3474720"/>
            <a:ext cx="109728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9760" y="1371600"/>
            <a:ext cx="2011680" cy="4663440"/>
          </a:xfrm>
          <a:prstGeom prst="roundRect">
            <a:avLst>
              <a:gd name="adj" fmla="val 4545"/>
            </a:avLst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46920" y="150876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E11D48"/>
          </a:solidFill>
          <a:ln/>
        </p:spPr>
      </p:sp>
      <p:sp>
        <p:nvSpPr>
          <p:cNvPr id="33" name="Text 31"/>
          <p:cNvSpPr/>
          <p:nvPr/>
        </p:nvSpPr>
        <p:spPr>
          <a:xfrm>
            <a:off x="9646920" y="15727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Actionable UI Card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646920" y="2057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Chat Stream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646920" y="2514600"/>
            <a:ext cx="1737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Renders status badge, donor card, and "Open in Google Maps" button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DIAGRAM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Entity-Relationship (ER) Relational Diagram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Bank Management System (BBMS) | AI &amp; Demand Forecasting Deck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0584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71600"/>
            <a:ext cx="3383280" cy="411480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447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874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donorId (PK, Auto)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21488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name, Phone, email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bloodGroup, city, address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dateOfDonation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latitude, longitude (GPS)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0" y="13716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371600"/>
            <a:ext cx="338328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14447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STOCK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1874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id (PK, Auto)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0" y="21488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bloodGroup (Unique A+, O-, etc.)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units (Integer Quantity)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expiryDate (FEFO Rotation)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updatedAt (Timestamp)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46720" y="13716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1371600"/>
            <a:ext cx="338328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14447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0" y="1874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transactionId (PK, Auto)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29600" y="21488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patientName, hospitalName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bloodGroup, units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date (Request Date)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status (PENDING / DELIVERED)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" y="402336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023360"/>
            <a:ext cx="338328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0965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SESSIONS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4526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sessionId (PK, UUID)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14400" y="48006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title (Smart Auto-Generated)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messages (JSON ModelMessage)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createdAt, updatedAt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389120" y="402336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9120" y="4023360"/>
            <a:ext cx="338328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0" y="40965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&amp; ROLES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0" y="4526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userId (PK, Auto)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0" y="48006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email, passwordHash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role (ADMIN / HOSPITAL / DONOR)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hospitalName, phone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046720" y="402336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41605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 CARDINALITY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448056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DONORS (1) ── (N) TRANSACTIONS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BLOOD_STOCK (1) ── (N) TRANSACTIONS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USERS (1) ── (N) CHAT_SESSIONS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Strict Referential Foreign Keys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FEFO Transaction Status Transitions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DIAGRAM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Geospatial Nearest-Donor Matching &amp; Routing Workflow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Bank Management System (BBMS) | AI &amp; Demand Forecasting Deck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0584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1069848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173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HAVERSINE GREAT-CIRCLE SPHERICAL DISTANCE FORMULA</a:t>
            </a:r>
            <a:endParaRPr lang="en-US" sz="10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2R · arcsin( √( sin²(Δφ/2) + cos(φ₁)·cos(φ₂)·sin²(Δλ/2) ) )</a:t>
            </a:r>
            <a:endParaRPr lang="en-US" sz="10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(φ₁, λ₁) = Hospital Coordinates, (φ₂, λ₂) = Donor Coordinates, R = Earth Radius (6,371 km)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3383280" cy="3474720"/>
          </a:xfrm>
          <a:prstGeom prst="roundRect">
            <a:avLst>
              <a:gd name="adj" fmla="val 3243"/>
            </a:avLst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651760"/>
            <a:ext cx="3383280" cy="7315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Emergency Trigger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429000"/>
            <a:ext cx="28346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issues urgent request for rare blood type (e.g. 2 units O- at Sylhet MAG Osmani Medical Hospital). System captures hospital GPS anchor.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2651760"/>
            <a:ext cx="3383280" cy="3474720"/>
          </a:xfrm>
          <a:prstGeom prst="roundRect">
            <a:avLst>
              <a:gd name="adj" fmla="val 3243"/>
            </a:avLst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2651760"/>
            <a:ext cx="338328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Radial Filter &amp; Sort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3429000"/>
            <a:ext cx="28346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Haversine algorithm computes straight-line distance across all registered O- donors, sorting closest donors (e.g. 1.2 km away in Zindabazar).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2651760"/>
            <a:ext cx="3383280" cy="3474720"/>
          </a:xfrm>
          <a:prstGeom prst="roundRect">
            <a:avLst>
              <a:gd name="adj" fmla="val 3243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2651760"/>
            <a:ext cx="338328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Maps Routing &amp; Dispatch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21040" y="3429000"/>
            <a:ext cx="28346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live Google Maps turn-by-turn navigation URL and renders one-click "Open in Google Maps" action button for rapid donor mobilization.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&amp; Engineering Highlights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Bank Management System (BBMS) | AI &amp; Demand Forecasting Deck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0584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51206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25880"/>
            <a:ext cx="512064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5270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Framework &amp; UX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05840" y="19202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Next.js 16 (Turbopack, App Router)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React 19 (Server Actions, Hooks)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Lucide Icons &amp; Responsive CSS Design Tokens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Leaflet &amp; OpenStreetMap / Google Maps Routing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1325880"/>
            <a:ext cx="51206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325880"/>
            <a:ext cx="512064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5270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Inference Engine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Groq LPU Cloud Hardware Inference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Meta Llama 3.3 70B Versatile LLM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Vercel AI SDK 3.x/4.x Tool Calling Stream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Strict JSON Schema &amp; Fallback Regex Parsers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51206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749040"/>
            <a:ext cx="512064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9502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Data Persistence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05840" y="434340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Supabase Managed PostgreSQL DB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REST API Route Handlers with Type Safety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Client LocalStorage State Mirroring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Automated Health &amp; Connectivity Verification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3749040"/>
            <a:ext cx="51206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3749040"/>
            <a:ext cx="5120640" cy="7315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9502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Speed &amp; Reliability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0" y="434340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Sub-second LLM streaming latency (~300ms)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Role-Based Authentication &amp; Route Guards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FEFO Expiry Auditing to prevent expired issuance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Multi-tenant Hospital portal dispatch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Blood Supply Chains with Actionable Intelligence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3383280" cy="4206240"/>
          </a:xfrm>
          <a:prstGeom prst="roundRect">
            <a:avLst>
              <a:gd name="adj" fmla="val 405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20240"/>
            <a:ext cx="3383280" cy="7315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94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We Achieved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2834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Preventable Wastage via automated FEFO lifecycle tracking.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Sub-second Actionable AI Agent executing live database operations.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Outbreak &amp; Holiday Demand Simulation anticipating supply deficits.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Google Maps geospatial navigation for emergency donors.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920240"/>
            <a:ext cx="3383280" cy="4206240"/>
          </a:xfrm>
          <a:prstGeom prst="roundRect">
            <a:avLst>
              <a:gd name="adj" fmla="val 405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920240"/>
            <a:ext cx="338328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2194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Immediate Real-World Impact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63440" y="2651760"/>
            <a:ext cx="2834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Saves critical hours during emergency hospital trauma &amp; surgery calls.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Replaces error-prone paper logs with reliable PostgreSQL storage.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Lowers cognitive burden on hospital staff with natural conversational AI.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Encourages community donor retention with digital badge ID cards.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920240"/>
            <a:ext cx="3383280" cy="4206240"/>
          </a:xfrm>
          <a:prstGeom prst="roundRect">
            <a:avLst>
              <a:gd name="adj" fmla="val 405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920240"/>
            <a:ext cx="338328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2194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Future Roadmap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21040" y="2651760"/>
            <a:ext cx="2834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SMS/WhatsApp broadcast dispatch to matched proximity donors.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IoT Cold Chain temperature &amp; hemolysis sensors on blood storage units.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Cross-hospital regional blood exchange network integration.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Mobile App with push notifications for emergency donor mobilization.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2026-08-15T13:17:45Z</dcterms:created>
  <dcterms:modified xsi:type="dcterms:W3CDTF">2026-08-15T13:17:45Z</dcterms:modified>
</cp:coreProperties>
</file>